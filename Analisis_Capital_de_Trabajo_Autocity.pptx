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Rotación + trim. (sano)</c:v>
                </c:pt>
              </c:strCache>
            </c:strRef>
          </c:tx>
          <c:spPr>
            <a:solidFill>
              <a:srgbClr val="3F8F6A"/>
            </a:solidFill>
            <a:ln>
              <a:noFill/>
            </a:ln>
          </c:spPr>
          <c:cat>
            <c:strRef>
              <c:f>Sheet1!$A$2:$A$12</c:f>
              <c:strCache>
                <c:ptCount val="11"/>
                <c:pt idx="0">
                  <c:v>ene '26</c:v>
                </c:pt>
                <c:pt idx="1">
                  <c:v>feb '26</c:v>
                </c:pt>
                <c:pt idx="2">
                  <c:v>mar '26</c:v>
                </c:pt>
                <c:pt idx="3">
                  <c:v>abr '26</c:v>
                </c:pt>
                <c:pt idx="4">
                  <c:v>may '26</c:v>
                </c:pt>
                <c:pt idx="5">
                  <c:v>jun '26</c:v>
                </c:pt>
                <c:pt idx="6">
                  <c:v>jul '26</c:v>
                </c:pt>
                <c:pt idx="7">
                  <c:v>ago '26</c:v>
                </c:pt>
                <c:pt idx="8">
                  <c:v>sep '26</c:v>
                </c:pt>
                <c:pt idx="9">
                  <c:v>oct '26</c:v>
                </c:pt>
                <c:pt idx="10">
                  <c:v>Objetivo 2027</c:v>
                </c:pt>
              </c:strCache>
            </c:strRef>
          </c:cat>
          <c:val>
            <c:numRef>
              <c:f>Sheet1!$B$2:$B$12</c:f>
              <c:numCache>
                <c:formatCode>General</c:formatCode>
                <c:ptCount val="11"/>
                <c:pt idx="0">
                  <c:v>6388</c:v>
                </c:pt>
                <c:pt idx="1">
                  <c:v>6643</c:v>
                </c:pt>
                <c:pt idx="2">
                  <c:v>7282</c:v>
                </c:pt>
                <c:pt idx="3">
                  <c:v>7591</c:v>
                </c:pt>
                <c:pt idx="4">
                  <c:v>8478</c:v>
                </c:pt>
                <c:pt idx="5">
                  <c:v>8052</c:v>
                </c:pt>
                <c:pt idx="6">
                  <c:v>8533</c:v>
                </c:pt>
                <c:pt idx="7">
                  <c:v>8676</c:v>
                </c:pt>
                <c:pt idx="8">
                  <c:v>8165</c:v>
                </c:pt>
                <c:pt idx="9">
                  <c:v>8030</c:v>
                </c:pt>
                <c:pt idx="10">
                  <c:v>9968</c:v>
                </c:pt>
              </c:numCache>
            </c:numRef>
          </c:val>
        </c:ser>
        <c:ser>
          <c:idx val="1"/>
          <c:order val="1"/>
          <c:tx>
            <c:strRef>
              <c:f>Sheet1!$C$1</c:f>
              <c:strCache>
                <c:ptCount val="1"/>
                <c:pt idx="0">
                  <c:v>Sobrestock semestral</c:v>
                </c:pt>
              </c:strCache>
            </c:strRef>
          </c:tx>
          <c:spPr>
            <a:solidFill>
              <a:srgbClr val="8A7530"/>
            </a:solidFill>
            <a:ln>
              <a:noFill/>
            </a:ln>
          </c:spPr>
          <c:cat>
            <c:strRef>
              <c:f>Sheet1!$A$2:$A$12</c:f>
              <c:strCache>
                <c:ptCount val="11"/>
                <c:pt idx="0">
                  <c:v>ene '26</c:v>
                </c:pt>
                <c:pt idx="1">
                  <c:v>feb '26</c:v>
                </c:pt>
                <c:pt idx="2">
                  <c:v>mar '26</c:v>
                </c:pt>
                <c:pt idx="3">
                  <c:v>abr '26</c:v>
                </c:pt>
                <c:pt idx="4">
                  <c:v>may '26</c:v>
                </c:pt>
                <c:pt idx="5">
                  <c:v>jun '26</c:v>
                </c:pt>
                <c:pt idx="6">
                  <c:v>jul '26</c:v>
                </c:pt>
                <c:pt idx="7">
                  <c:v>ago '26</c:v>
                </c:pt>
                <c:pt idx="8">
                  <c:v>sep '26</c:v>
                </c:pt>
                <c:pt idx="9">
                  <c:v>oct '26</c:v>
                </c:pt>
                <c:pt idx="10">
                  <c:v>Objetivo 2027</c:v>
                </c:pt>
              </c:strCache>
            </c:strRef>
          </c:cat>
          <c:val>
            <c:numRef>
              <c:f>Sheet1!$C$2:$C$12</c:f>
              <c:numCache>
                <c:formatCode>General</c:formatCode>
                <c:ptCount val="11"/>
                <c:pt idx="0">
                  <c:v>1987</c:v>
                </c:pt>
                <c:pt idx="1">
                  <c:v>2190</c:v>
                </c:pt>
                <c:pt idx="2">
                  <c:v>2204</c:v>
                </c:pt>
                <c:pt idx="3">
                  <c:v>2478</c:v>
                </c:pt>
                <c:pt idx="4">
                  <c:v>2009</c:v>
                </c:pt>
                <c:pt idx="5">
                  <c:v>2198</c:v>
                </c:pt>
                <c:pt idx="6">
                  <c:v>2047</c:v>
                </c:pt>
                <c:pt idx="7">
                  <c:v>1848</c:v>
                </c:pt>
                <c:pt idx="8">
                  <c:v>1978</c:v>
                </c:pt>
                <c:pt idx="9">
                  <c:v>2760</c:v>
                </c:pt>
                <c:pt idx="10">
                  <c:v>1216</c:v>
                </c:pt>
              </c:numCache>
            </c:numRef>
          </c:val>
        </c:ser>
        <c:ser>
          <c:idx val="2"/>
          <c:order val="2"/>
          <c:tx>
            <c:strRef>
              <c:f>Sheet1!$D$1</c:f>
              <c:strCache>
                <c:ptCount val="1"/>
                <c:pt idx="0">
                  <c:v>Obsoleto (muerto + dormido)</c:v>
                </c:pt>
              </c:strCache>
            </c:strRef>
          </c:tx>
          <c:spPr>
            <a:solidFill>
              <a:srgbClr val="C04343"/>
            </a:solidFill>
            <a:ln>
              <a:noFill/>
            </a:ln>
          </c:spPr>
          <c:cat>
            <c:strRef>
              <c:f>Sheet1!$A$2:$A$12</c:f>
              <c:strCache>
                <c:ptCount val="11"/>
                <c:pt idx="0">
                  <c:v>ene '26</c:v>
                </c:pt>
                <c:pt idx="1">
                  <c:v>feb '26</c:v>
                </c:pt>
                <c:pt idx="2">
                  <c:v>mar '26</c:v>
                </c:pt>
                <c:pt idx="3">
                  <c:v>abr '26</c:v>
                </c:pt>
                <c:pt idx="4">
                  <c:v>may '26</c:v>
                </c:pt>
                <c:pt idx="5">
                  <c:v>jun '26</c:v>
                </c:pt>
                <c:pt idx="6">
                  <c:v>jul '26</c:v>
                </c:pt>
                <c:pt idx="7">
                  <c:v>ago '26</c:v>
                </c:pt>
                <c:pt idx="8">
                  <c:v>sep '26</c:v>
                </c:pt>
                <c:pt idx="9">
                  <c:v>oct '26</c:v>
                </c:pt>
                <c:pt idx="10">
                  <c:v>Objetivo 2027</c:v>
                </c:pt>
              </c:strCache>
            </c:strRef>
          </c:cat>
          <c:val>
            <c:numRef>
              <c:f>Sheet1!$D$2:$D$12</c:f>
              <c:numCache>
                <c:formatCode>General</c:formatCode>
                <c:ptCount val="11"/>
                <c:pt idx="0">
                  <c:v>881</c:v>
                </c:pt>
                <c:pt idx="1">
                  <c:v>878</c:v>
                </c:pt>
                <c:pt idx="2">
                  <c:v>907</c:v>
                </c:pt>
                <c:pt idx="3">
                  <c:v>953</c:v>
                </c:pt>
                <c:pt idx="4">
                  <c:v>1005</c:v>
                </c:pt>
                <c:pt idx="5">
                  <c:v>880</c:v>
                </c:pt>
                <c:pt idx="6">
                  <c:v>921</c:v>
                </c:pt>
                <c:pt idx="7">
                  <c:v>942</c:v>
                </c:pt>
                <c:pt idx="8">
                  <c:v>1367</c:v>
                </c:pt>
                <c:pt idx="9">
                  <c:v>1354</c:v>
                </c:pt>
                <c:pt idx="10">
                  <c:v>972</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latin typeface="Calibri"/>
              </a:defRPr>
            </a:pPr>
          </a:p>
        </c:txPr>
        <c:crossAx val="-2068027336"/>
        <c:crosses val="autoZero"/>
      </c:valAx>
    </c:plotArea>
    <c:legend>
      <c:legendPos val="t"/>
      <c:overlay val="0"/>
      <c:txPr>
        <a:bodyPr/>
        <a:lstStyle/>
        <a:p>
          <a:pPr>
            <a:defRPr sz="10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Bienes (rep + accesorios)</c:v>
                </c:pt>
              </c:strCache>
            </c:strRef>
          </c:tx>
          <c:spPr>
            <a:solidFill>
              <a:srgbClr val="2F6690"/>
            </a:solidFill>
            <a:ln>
              <a:no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Sheet1!$B$2:$B$9</c:f>
              <c:numCache>
                <c:formatCode>General</c:formatCode>
                <c:ptCount val="8"/>
                <c:pt idx="0">
                  <c:v>242</c:v>
                </c:pt>
                <c:pt idx="1">
                  <c:v>79</c:v>
                </c:pt>
                <c:pt idx="2">
                  <c:v>334</c:v>
                </c:pt>
                <c:pt idx="3">
                  <c:v>306</c:v>
                </c:pt>
                <c:pt idx="4">
                  <c:v>123</c:v>
                </c:pt>
                <c:pt idx="5">
                  <c:v>287</c:v>
                </c:pt>
                <c:pt idx="6">
                  <c:v>308</c:v>
                </c:pt>
                <c:pt idx="7">
                  <c:v>296</c:v>
                </c:pt>
              </c:numCache>
            </c:numRef>
          </c:val>
        </c:ser>
        <c:ser>
          <c:idx val="1"/>
          <c:order val="1"/>
          <c:tx>
            <c:strRef>
              <c:f>Sheet1!$C$1</c:f>
              <c:strCache>
                <c:ptCount val="1"/>
                <c:pt idx="0">
                  <c:v>Servicios (taller + siniestros)</c:v>
                </c:pt>
              </c:strCache>
            </c:strRef>
          </c:tx>
          <c:spPr>
            <a:solidFill>
              <a:srgbClr val="3F8F6A"/>
            </a:solidFill>
            <a:ln>
              <a:no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Sheet1!$C$2:$C$9</c:f>
              <c:numCache>
                <c:formatCode>General</c:formatCode>
                <c:ptCount val="8"/>
                <c:pt idx="0">
                  <c:v>175</c:v>
                </c:pt>
                <c:pt idx="1">
                  <c:v>32</c:v>
                </c:pt>
                <c:pt idx="2">
                  <c:v>323</c:v>
                </c:pt>
                <c:pt idx="3">
                  <c:v>319</c:v>
                </c:pt>
                <c:pt idx="4">
                  <c:v>203</c:v>
                </c:pt>
                <c:pt idx="5">
                  <c:v>263</c:v>
                </c:pt>
                <c:pt idx="6">
                  <c:v>359</c:v>
                </c:pt>
                <c:pt idx="7">
                  <c:v>408</c:v>
                </c:pt>
              </c:numCache>
            </c:numRef>
          </c:val>
        </c:ser>
        <c:ser>
          <c:idx val="2"/>
          <c:order val="2"/>
          <c:tx>
            <c:strRef>
              <c:f>Sheet1!$D$1</c:f>
              <c:strCache>
                <c:ptCount val="1"/>
                <c:pt idx="0">
                  <c:v>Resultados de stock</c:v>
                </c:pt>
              </c:strCache>
            </c:strRef>
          </c:tx>
          <c:spPr>
            <a:solidFill>
              <a:srgbClr val="8A7530"/>
            </a:solidFill>
            <a:ln>
              <a:no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Sheet1!$D$2:$D$9</c:f>
              <c:numCache>
                <c:formatCode>General</c:formatCode>
                <c:ptCount val="8"/>
                <c:pt idx="0">
                  <c:v>176</c:v>
                </c:pt>
                <c:pt idx="1">
                  <c:v>228</c:v>
                </c:pt>
                <c:pt idx="2">
                  <c:v>317</c:v>
                </c:pt>
                <c:pt idx="3">
                  <c:v>131</c:v>
                </c:pt>
                <c:pt idx="4">
                  <c:v>260</c:v>
                </c:pt>
                <c:pt idx="5">
                  <c:v>36</c:v>
                </c:pt>
                <c:pt idx="6">
                  <c:v>267</c:v>
                </c:pt>
                <c:pt idx="7">
                  <c:v>-218</c:v>
                </c:pt>
              </c:numCache>
            </c:numRef>
          </c:val>
        </c:ser>
        <c:overlap val="100"/>
        <c:axId val="-2068027336"/>
        <c:axId val="-2113994440"/>
      </c:barChart>
      <c:lineChart>
        <c:grouping val="standard"/>
        <c:varyColors val="0"/>
        <c:ser>
          <c:idx val="9"/>
          <c:order val="9"/>
          <c:tx>
            <c:strRef>
              <c:f>Sheet1!$Z$1</c:f>
              <c:strCache>
                <c:ptCount val="1"/>
                <c:pt idx="0">
                  <c:v>Capital de trabajo (total)</c:v>
                </c:pt>
              </c:strCache>
            </c:strRef>
          </c:tx>
          <c:spPr>
            <a:ln w="31750">
              <a:solidFill>
                <a:srgbClr val="1a1f27"/>
              </a:solidFill>
            </a:ln>
          </c:spPr>
          <c:marker>
            <c:symbol val="circle"/>
            <c:size val="5"/>
            <c:spPr>
              <a:solidFill>
                <a:srgbClr val="1a1f27"/>
              </a:solidFill>
              <a:ln>
                <a:solidFill>
                  <a:srgbClr val="1a1f27"/>
                </a:solidFill>
              </a:ln>
            </c:spPr>
          </c:marke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Sheet1!$Z$2:$Z$9</c:f>
              <c:numCache>
                <c:formatCode>General</c:formatCode>
                <c:ptCount val="8"/>
                <c:pt idx="0">
                  <c:v>9769</c:v>
                </c:pt>
                <c:pt idx="1">
                  <c:v>10124</c:v>
                </c:pt>
                <c:pt idx="2">
                  <c:v>10479</c:v>
                </c:pt>
                <c:pt idx="3">
                  <c:v>11189</c:v>
                </c:pt>
                <c:pt idx="4">
                  <c:v>11995</c:v>
                </c:pt>
                <c:pt idx="5">
                  <c:v>12687</c:v>
                </c:pt>
                <c:pt idx="6">
                  <c:v>12367</c:v>
                </c:pt>
                <c:pt idx="7">
                  <c:v>13962</c:v>
                </c:pt>
              </c:numCache>
            </c:numRef>
          </c:val>
          <c:smooth val="0"/>
        </c:ser>
        <c:marker val="1"/>
        <c:axId val="800"/>
        <c:axId val="900"/>
      </c:lineChart>
      <c:catAx>
        <c:axId val="-2068027336"/>
        <c:scaling>
          <c:orientation val="minMax"/>
        </c:scaling>
        <c:delete val="0"/>
        <c:axPos val="b"/>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latin typeface="Calibri"/>
              </a:defRPr>
            </a:pPr>
          </a:p>
        </c:txPr>
        <c:crossAx val="-2068027336"/>
        <c:crosses val="autoZero"/>
      </c:valAx>
      <c:catAx>
        <c:axId val="800"/>
        <c:scaling>
          <c:orientation val="minMax"/>
        </c:scaling>
        <c:delete val="1"/>
        <c:axPos val="b"/>
        <c:majorTickMark val="none"/>
        <c:minorTickMark val="none"/>
        <c:tickLblPos val="none"/>
        <c:crossAx val="900"/>
      </c:catAx>
      <c:valAx>
        <c:axId val="900"/>
        <c:scaling>
          <c:orientation val="minMax"/>
        </c:scaling>
        <c:delete val="0"/>
        <c:axPos val="r"/>
        <c:numFmt formatCode="&quot;$&quot;#,##0" sourceLinked="0"/>
        <c:majorTickMark val="out"/>
        <c:minorTickMark val="none"/>
        <c:tickLblPos val="nextTo"/>
        <c:crossAx val="800"/>
        <c:crosses val="max"/>
      </c:valAx>
    </c:plotArea>
    <c:legend>
      <c:legendPos val="t"/>
      <c:overlay val="0"/>
      <c:txPr>
        <a:bodyPr/>
        <a:lstStyle/>
        <a:p>
          <a:pPr>
            <a:defRPr sz="10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Bienes</c:v>
                </c:pt>
              </c:strCache>
            </c:strRef>
          </c:tx>
          <c:spPr>
            <a:ln w="25400">
              <a:solidFill>
                <a:srgbClr val="2F6690"/>
              </a:solid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Sheet1!$B$2:$B$9</c:f>
              <c:numCache>
                <c:formatCode>General</c:formatCode>
                <c:ptCount val="8"/>
                <c:pt idx="0">
                  <c:v>2.48</c:v>
                </c:pt>
                <c:pt idx="1">
                  <c:v>0.78</c:v>
                </c:pt>
                <c:pt idx="2">
                  <c:v>3.19</c:v>
                </c:pt>
                <c:pt idx="3">
                  <c:v>2.73</c:v>
                </c:pt>
                <c:pt idx="4">
                  <c:v>1.03</c:v>
                </c:pt>
                <c:pt idx="5">
                  <c:v>2.26</c:v>
                </c:pt>
                <c:pt idx="6">
                  <c:v>2.49</c:v>
                </c:pt>
                <c:pt idx="7">
                  <c:v>2.12</c:v>
                </c:pt>
              </c:numCache>
            </c:numRef>
          </c:val>
          <c:smooth val="0"/>
        </c:ser>
        <c:ser>
          <c:idx val="1"/>
          <c:order val="1"/>
          <c:tx>
            <c:strRef>
              <c:f>Sheet1!$C$1</c:f>
              <c:strCache>
                <c:ptCount val="1"/>
                <c:pt idx="0">
                  <c:v>Servicios</c:v>
                </c:pt>
              </c:strCache>
            </c:strRef>
          </c:tx>
          <c:spPr>
            <a:ln w="25400">
              <a:solidFill>
                <a:srgbClr val="3F8F6A"/>
              </a:solid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Sheet1!$C$2:$C$9</c:f>
              <c:numCache>
                <c:formatCode>General</c:formatCode>
                <c:ptCount val="8"/>
                <c:pt idx="0">
                  <c:v>1.79</c:v>
                </c:pt>
                <c:pt idx="1">
                  <c:v>0.32</c:v>
                </c:pt>
                <c:pt idx="2">
                  <c:v>3.08</c:v>
                </c:pt>
                <c:pt idx="3">
                  <c:v>2.85</c:v>
                </c:pt>
                <c:pt idx="4">
                  <c:v>1.69</c:v>
                </c:pt>
                <c:pt idx="5">
                  <c:v>2.07</c:v>
                </c:pt>
                <c:pt idx="6">
                  <c:v>2.9</c:v>
                </c:pt>
                <c:pt idx="7">
                  <c:v>2.92</c:v>
                </c:pt>
              </c:numCache>
            </c:numRef>
          </c:val>
          <c:smooth val="0"/>
        </c:ser>
        <c:ser>
          <c:idx val="2"/>
          <c:order val="2"/>
          <c:tx>
            <c:strRef>
              <c:f>Sheet1!$D$1</c:f>
              <c:strCache>
                <c:ptCount val="1"/>
                <c:pt idx="0">
                  <c:v>Resultados de stock</c:v>
                </c:pt>
              </c:strCache>
            </c:strRef>
          </c:tx>
          <c:spPr>
            <a:ln w="25400">
              <a:solidFill>
                <a:srgbClr val="8A7530"/>
              </a:solid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Sheet1!$D$2:$D$9</c:f>
              <c:numCache>
                <c:formatCode>General</c:formatCode>
                <c:ptCount val="8"/>
                <c:pt idx="0">
                  <c:v>1.8</c:v>
                </c:pt>
                <c:pt idx="1">
                  <c:v>2.25</c:v>
                </c:pt>
                <c:pt idx="2">
                  <c:v>3.03</c:v>
                </c:pt>
                <c:pt idx="3">
                  <c:v>1.17</c:v>
                </c:pt>
                <c:pt idx="4">
                  <c:v>2.17</c:v>
                </c:pt>
                <c:pt idx="5">
                  <c:v>0.28</c:v>
                </c:pt>
                <c:pt idx="6">
                  <c:v>2.16</c:v>
                </c:pt>
                <c:pt idx="7">
                  <c:v>-1.56</c:v>
                </c:pt>
              </c:numCache>
            </c:numRef>
          </c:val>
          <c:smooth val="0"/>
        </c:ser>
        <c:ser>
          <c:idx val="3"/>
          <c:order val="3"/>
          <c:tx>
            <c:strRef>
              <c:f>Sheet1!$E$1</c:f>
              <c:strCache>
                <c:ptCount val="1"/>
                <c:pt idx="0">
                  <c:v>Total</c:v>
                </c:pt>
              </c:strCache>
            </c:strRef>
          </c:tx>
          <c:spPr>
            <a:ln w="38100">
              <a:solidFill>
                <a:srgbClr val="1A1F27"/>
              </a:solidFill>
            </a:ln>
          </c:spPr>
          <c:cat>
            <c:strRef>
              <c:f>Sheet1!$A$2:$A$9</c:f>
              <c:strCache>
                <c:ptCount val="8"/>
                <c:pt idx="0">
                  <c:v>ene '26</c:v>
                </c:pt>
                <c:pt idx="1">
                  <c:v>feb '26</c:v>
                </c:pt>
                <c:pt idx="2">
                  <c:v>mar '26</c:v>
                </c:pt>
                <c:pt idx="3">
                  <c:v>abr '26</c:v>
                </c:pt>
                <c:pt idx="4">
                  <c:v>may '26</c:v>
                </c:pt>
                <c:pt idx="5">
                  <c:v>jun '26</c:v>
                </c:pt>
                <c:pt idx="6">
                  <c:v>jul '26</c:v>
                </c:pt>
                <c:pt idx="7">
                  <c:v>ago '26</c:v>
                </c:pt>
              </c:strCache>
            </c:strRef>
          </c:cat>
          <c:val>
            <c:numRef>
              <c:f>Sheet1!$E$2:$E$9</c:f>
              <c:numCache>
                <c:formatCode>General</c:formatCode>
                <c:ptCount val="8"/>
                <c:pt idx="0">
                  <c:v>6.07</c:v>
                </c:pt>
                <c:pt idx="1">
                  <c:v>3.35</c:v>
                </c:pt>
                <c:pt idx="2">
                  <c:v>9.29</c:v>
                </c:pt>
                <c:pt idx="3">
                  <c:v>6.76</c:v>
                </c:pt>
                <c:pt idx="4">
                  <c:v>4.89</c:v>
                </c:pt>
                <c:pt idx="5">
                  <c:v>4.62</c:v>
                </c:pt>
                <c:pt idx="6">
                  <c:v>7.55</c:v>
                </c:pt>
                <c:pt idx="7">
                  <c:v>3.48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latin typeface="Calibri"/>
              </a:defRPr>
            </a:pPr>
          </a:p>
        </c:txPr>
        <c:crossAx val="2140495176"/>
        <c:crosses val="autoZero"/>
        <c:auto val="1"/>
        <c:lblAlgn val="ctr"/>
        <c:lblOffset val="100"/>
        <c:noMultiLvlLbl val="0"/>
      </c:catAx>
      <c:valAx>
        <c:axId val="2140495176"/>
        <c:scaling/>
        <c:delete val="0"/>
        <c:axPos val="l"/>
        <c:majorGridlines/>
        <c:numFmt formatCode="0&quot;%&quot;" sourceLinked="0"/>
        <c:majorTickMark val="out"/>
        <c:minorTickMark val="none"/>
        <c:tickLblPos val="nextTo"/>
        <c:txPr>
          <a:bodyPr/>
          <a:lstStyle/>
          <a:p>
            <a:pPr>
              <a:defRPr sz="900">
                <a:latin typeface="Calibri"/>
              </a:defRPr>
            </a:pPr>
          </a:p>
        </c:txPr>
        <c:crossAx val="2118791784"/>
        <c:crosses val="autoZero"/>
      </c:valAx>
    </c:plotArea>
    <c:legend>
      <c:legendPos val="t"/>
      <c:layout/>
      <c:overlay val="0"/>
      <c:txPr>
        <a:bodyPr/>
        <a:lstStyle/>
        <a:p>
          <a:pPr>
            <a:defRPr sz="1000">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F6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320040"/>
          </a:xfrm>
          <a:prstGeom prst="rect">
            <a:avLst/>
          </a:prstGeom>
          <a:noFill/>
        </p:spPr>
        <p:txBody>
          <a:bodyPr wrap="square" anchor="t" lIns="0" rIns="0" tIns="0" bIns="0">
            <a:spAutoFit/>
          </a:bodyPr>
          <a:lstStyle/>
          <a:p>
            <a:pPr algn="l">
              <a:lnSpc>
                <a:spcPct val="100000"/>
              </a:lnSpc>
              <a:spcBef>
                <a:spcPts val="0"/>
              </a:spcBef>
              <a:spcAft>
                <a:spcPts val="400"/>
              </a:spcAft>
            </a:pPr>
            <a:r>
              <a:rPr sz="1300" b="1">
                <a:solidFill>
                  <a:srgbClr val="2F6690"/>
                </a:solidFill>
                <a:latin typeface="Calibri"/>
              </a:rPr>
              <a:t>AUTOCITY · POSVENTA GLOBAL · ANÁLISIS FINANCIERO</a:t>
            </a:r>
          </a:p>
        </p:txBody>
      </p:sp>
      <p:sp>
        <p:nvSpPr>
          <p:cNvPr id="4" name="TextBox 3"/>
          <p:cNvSpPr txBox="1"/>
          <p:nvPr/>
        </p:nvSpPr>
        <p:spPr>
          <a:xfrm>
            <a:off x="548640" y="1783080"/>
            <a:ext cx="10972800"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a:solidFill>
                  <a:srgbClr val="1A1F27"/>
                </a:solidFill>
                <a:latin typeface="Calibri"/>
              </a:rPr>
              <a:t>Evolución del Capital de Trabajo</a:t>
            </a:r>
          </a:p>
        </p:txBody>
      </p:sp>
      <p:sp>
        <p:nvSpPr>
          <p:cNvPr id="5" name="TextBox 4"/>
          <p:cNvSpPr txBox="1"/>
          <p:nvPr/>
        </p:nvSpPr>
        <p:spPr>
          <a:xfrm>
            <a:off x="548640" y="2743200"/>
            <a:ext cx="10515600" cy="1097280"/>
          </a:xfrm>
          <a:prstGeom prst="rect">
            <a:avLst/>
          </a:prstGeom>
          <a:noFill/>
        </p:spPr>
        <p:txBody>
          <a:bodyPr wrap="square" anchor="t" lIns="0" rIns="0" tIns="0" bIns="0">
            <a:spAutoFit/>
          </a:bodyPr>
          <a:lstStyle/>
          <a:p>
            <a:pPr algn="l">
              <a:lnSpc>
                <a:spcPct val="110000"/>
              </a:lnSpc>
              <a:spcBef>
                <a:spcPts val="0"/>
              </a:spcBef>
              <a:spcAft>
                <a:spcPts val="400"/>
              </a:spcAft>
            </a:pPr>
            <a:r>
              <a:rPr sz="1500" b="0">
                <a:solidFill>
                  <a:srgbClr val="5B6570"/>
                </a:solidFill>
                <a:latin typeface="Calibri"/>
              </a:rPr>
              <a:t>¿La expansión del capital de trabajo estuvo justificada por más ventas y mejor margen? Análisis nominal y real (deflactado por inflación de lista), con foco en octubre 2025 → agosto 2026.</a:t>
            </a:r>
          </a:p>
        </p:txBody>
      </p:sp>
      <p:sp>
        <p:nvSpPr>
          <p:cNvPr id="6" name="Rounded Rectangle 5"/>
          <p:cNvSpPr/>
          <p:nvPr/>
        </p:nvSpPr>
        <p:spPr>
          <a:xfrm>
            <a:off x="548640" y="4160520"/>
            <a:ext cx="2036003" cy="1737360"/>
          </a:xfrm>
          <a:prstGeom prst="roundRect">
            <a:avLst/>
          </a:prstGeom>
          <a:solidFill>
            <a:srgbClr val="F5F7F9"/>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306824"/>
            <a:ext cx="1706819" cy="457200"/>
          </a:xfrm>
          <a:prstGeom prst="rect">
            <a:avLst/>
          </a:prstGeom>
          <a:noFill/>
        </p:spPr>
        <p:txBody>
          <a:bodyPr wrap="square" anchor="t" lIns="0" rIns="0" tIns="0" bIns="0">
            <a:spAutoFit/>
          </a:bodyPr>
          <a:lstStyle/>
          <a:p>
            <a:pPr algn="l">
              <a:lnSpc>
                <a:spcPct val="95000"/>
              </a:lnSpc>
              <a:spcBef>
                <a:spcPts val="0"/>
              </a:spcBef>
              <a:spcAft>
                <a:spcPts val="400"/>
              </a:spcAft>
            </a:pPr>
            <a:r>
              <a:rPr sz="950" b="1">
                <a:solidFill>
                  <a:srgbClr val="5B6570"/>
                </a:solidFill>
                <a:latin typeface="Calibri"/>
              </a:rPr>
              <a:t>CAP. DE TRABAJO (NOMINAL)</a:t>
            </a:r>
          </a:p>
        </p:txBody>
      </p:sp>
      <p:sp>
        <p:nvSpPr>
          <p:cNvPr id="8" name="TextBox 7"/>
          <p:cNvSpPr txBox="1"/>
          <p:nvPr/>
        </p:nvSpPr>
        <p:spPr>
          <a:xfrm>
            <a:off x="713232" y="4818888"/>
            <a:ext cx="1706819" cy="457200"/>
          </a:xfrm>
          <a:prstGeom prst="rect">
            <a:avLst/>
          </a:prstGeom>
          <a:noFill/>
        </p:spPr>
        <p:txBody>
          <a:bodyPr wrap="square" anchor="t" lIns="0" rIns="0" tIns="0" bIns="0">
            <a:spAutoFit/>
          </a:bodyPr>
          <a:lstStyle/>
          <a:p>
            <a:pPr algn="l">
              <a:lnSpc>
                <a:spcPct val="100000"/>
              </a:lnSpc>
              <a:spcBef>
                <a:spcPts val="0"/>
              </a:spcBef>
              <a:spcAft>
                <a:spcPts val="400"/>
              </a:spcAft>
            </a:pPr>
            <a:r>
              <a:rPr sz="2100" b="1">
                <a:solidFill>
                  <a:srgbClr val="1A1F27"/>
                </a:solidFill>
                <a:latin typeface="Calibri"/>
              </a:rPr>
              <a:t>$13.962 M</a:t>
            </a:r>
          </a:p>
        </p:txBody>
      </p:sp>
      <p:sp>
        <p:nvSpPr>
          <p:cNvPr id="9" name="TextBox 8"/>
          <p:cNvSpPr txBox="1"/>
          <p:nvPr/>
        </p:nvSpPr>
        <p:spPr>
          <a:xfrm>
            <a:off x="713232" y="5376672"/>
            <a:ext cx="1706819" cy="365760"/>
          </a:xfrm>
          <a:prstGeom prst="rect">
            <a:avLst/>
          </a:prstGeom>
          <a:noFill/>
        </p:spPr>
        <p:txBody>
          <a:bodyPr wrap="square" anchor="t" lIns="0" rIns="0" tIns="0" bIns="0">
            <a:spAutoFit/>
          </a:bodyPr>
          <a:lstStyle/>
          <a:p>
            <a:pPr algn="l">
              <a:lnSpc>
                <a:spcPct val="95000"/>
              </a:lnSpc>
              <a:spcBef>
                <a:spcPts val="0"/>
              </a:spcBef>
              <a:spcAft>
                <a:spcPts val="400"/>
              </a:spcAft>
            </a:pPr>
            <a:r>
              <a:rPr sz="1050" b="1">
                <a:solidFill>
                  <a:srgbClr val="C04343"/>
                </a:solidFill>
                <a:latin typeface="Calibri"/>
              </a:rPr>
              <a:t>+48.8% vs oct '25</a:t>
            </a:r>
          </a:p>
        </p:txBody>
      </p:sp>
      <p:sp>
        <p:nvSpPr>
          <p:cNvPr id="10" name="Rounded Rectangle 9"/>
          <p:cNvSpPr/>
          <p:nvPr/>
        </p:nvSpPr>
        <p:spPr>
          <a:xfrm>
            <a:off x="2813243" y="4160520"/>
            <a:ext cx="2036003" cy="1737360"/>
          </a:xfrm>
          <a:prstGeom prst="roundRect">
            <a:avLst/>
          </a:prstGeom>
          <a:solidFill>
            <a:srgbClr val="F5F7F9"/>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7835" y="4306824"/>
            <a:ext cx="1706819" cy="457200"/>
          </a:xfrm>
          <a:prstGeom prst="rect">
            <a:avLst/>
          </a:prstGeom>
          <a:noFill/>
        </p:spPr>
        <p:txBody>
          <a:bodyPr wrap="square" anchor="t" lIns="0" rIns="0" tIns="0" bIns="0">
            <a:spAutoFit/>
          </a:bodyPr>
          <a:lstStyle/>
          <a:p>
            <a:pPr algn="l">
              <a:lnSpc>
                <a:spcPct val="95000"/>
              </a:lnSpc>
              <a:spcBef>
                <a:spcPts val="0"/>
              </a:spcBef>
              <a:spcAft>
                <a:spcPts val="400"/>
              </a:spcAft>
            </a:pPr>
            <a:r>
              <a:rPr sz="950" b="1">
                <a:solidFill>
                  <a:srgbClr val="5B6570"/>
                </a:solidFill>
                <a:latin typeface="Calibri"/>
              </a:rPr>
              <a:t>CAP. DE TRABAJO (REAL)</a:t>
            </a:r>
          </a:p>
        </p:txBody>
      </p:sp>
      <p:sp>
        <p:nvSpPr>
          <p:cNvPr id="12" name="TextBox 11"/>
          <p:cNvSpPr txBox="1"/>
          <p:nvPr/>
        </p:nvSpPr>
        <p:spPr>
          <a:xfrm>
            <a:off x="2977835" y="4818888"/>
            <a:ext cx="1706819" cy="457200"/>
          </a:xfrm>
          <a:prstGeom prst="rect">
            <a:avLst/>
          </a:prstGeom>
          <a:noFill/>
        </p:spPr>
        <p:txBody>
          <a:bodyPr wrap="square" anchor="t" lIns="0" rIns="0" tIns="0" bIns="0">
            <a:spAutoFit/>
          </a:bodyPr>
          <a:lstStyle/>
          <a:p>
            <a:pPr algn="l">
              <a:lnSpc>
                <a:spcPct val="100000"/>
              </a:lnSpc>
              <a:spcBef>
                <a:spcPts val="0"/>
              </a:spcBef>
              <a:spcAft>
                <a:spcPts val="400"/>
              </a:spcAft>
            </a:pPr>
            <a:r>
              <a:rPr sz="2100" b="1">
                <a:solidFill>
                  <a:srgbClr val="1A1F27"/>
                </a:solidFill>
                <a:latin typeface="Calibri"/>
              </a:rPr>
              <a:t>$13.962 M</a:t>
            </a:r>
          </a:p>
        </p:txBody>
      </p:sp>
      <p:sp>
        <p:nvSpPr>
          <p:cNvPr id="13" name="TextBox 12"/>
          <p:cNvSpPr txBox="1"/>
          <p:nvPr/>
        </p:nvSpPr>
        <p:spPr>
          <a:xfrm>
            <a:off x="2977835" y="5376672"/>
            <a:ext cx="1706819" cy="365760"/>
          </a:xfrm>
          <a:prstGeom prst="rect">
            <a:avLst/>
          </a:prstGeom>
          <a:noFill/>
        </p:spPr>
        <p:txBody>
          <a:bodyPr wrap="square" anchor="t" lIns="0" rIns="0" tIns="0" bIns="0">
            <a:spAutoFit/>
          </a:bodyPr>
          <a:lstStyle/>
          <a:p>
            <a:pPr algn="l">
              <a:lnSpc>
                <a:spcPct val="95000"/>
              </a:lnSpc>
              <a:spcBef>
                <a:spcPts val="0"/>
              </a:spcBef>
              <a:spcAft>
                <a:spcPts val="400"/>
              </a:spcAft>
            </a:pPr>
            <a:r>
              <a:rPr sz="1050" b="1">
                <a:solidFill>
                  <a:srgbClr val="C04343"/>
                </a:solidFill>
                <a:latin typeface="Calibri"/>
              </a:rPr>
              <a:t>+26.4% real</a:t>
            </a:r>
          </a:p>
        </p:txBody>
      </p:sp>
      <p:sp>
        <p:nvSpPr>
          <p:cNvPr id="14" name="Rounded Rectangle 13"/>
          <p:cNvSpPr/>
          <p:nvPr/>
        </p:nvSpPr>
        <p:spPr>
          <a:xfrm>
            <a:off x="5077846" y="4160520"/>
            <a:ext cx="2036003" cy="1737360"/>
          </a:xfrm>
          <a:prstGeom prst="roundRect">
            <a:avLst/>
          </a:prstGeom>
          <a:solidFill>
            <a:srgbClr val="F5F7F9"/>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42438" y="4306824"/>
            <a:ext cx="1706819" cy="457200"/>
          </a:xfrm>
          <a:prstGeom prst="rect">
            <a:avLst/>
          </a:prstGeom>
          <a:noFill/>
        </p:spPr>
        <p:txBody>
          <a:bodyPr wrap="square" anchor="t" lIns="0" rIns="0" tIns="0" bIns="0">
            <a:spAutoFit/>
          </a:bodyPr>
          <a:lstStyle/>
          <a:p>
            <a:pPr algn="l">
              <a:lnSpc>
                <a:spcPct val="95000"/>
              </a:lnSpc>
              <a:spcBef>
                <a:spcPts val="0"/>
              </a:spcBef>
              <a:spcAft>
                <a:spcPts val="400"/>
              </a:spcAft>
            </a:pPr>
            <a:r>
              <a:rPr sz="950" b="1">
                <a:solidFill>
                  <a:srgbClr val="5B6570"/>
                </a:solidFill>
                <a:latin typeface="Calibri"/>
              </a:rPr>
              <a:t>FACTURACIÓN (REAL)</a:t>
            </a:r>
          </a:p>
        </p:txBody>
      </p:sp>
      <p:sp>
        <p:nvSpPr>
          <p:cNvPr id="16" name="TextBox 15"/>
          <p:cNvSpPr txBox="1"/>
          <p:nvPr/>
        </p:nvSpPr>
        <p:spPr>
          <a:xfrm>
            <a:off x="5242438" y="4818888"/>
            <a:ext cx="1706819" cy="457200"/>
          </a:xfrm>
          <a:prstGeom prst="rect">
            <a:avLst/>
          </a:prstGeom>
          <a:noFill/>
        </p:spPr>
        <p:txBody>
          <a:bodyPr wrap="square" anchor="t" lIns="0" rIns="0" tIns="0" bIns="0">
            <a:spAutoFit/>
          </a:bodyPr>
          <a:lstStyle/>
          <a:p>
            <a:pPr algn="l">
              <a:lnSpc>
                <a:spcPct val="100000"/>
              </a:lnSpc>
              <a:spcBef>
                <a:spcPts val="0"/>
              </a:spcBef>
              <a:spcAft>
                <a:spcPts val="400"/>
              </a:spcAft>
            </a:pPr>
            <a:r>
              <a:rPr sz="2100" b="1">
                <a:solidFill>
                  <a:srgbClr val="1A1F27"/>
                </a:solidFill>
                <a:latin typeface="Calibri"/>
              </a:rPr>
              <a:t>$4.523 M</a:t>
            </a:r>
          </a:p>
        </p:txBody>
      </p:sp>
      <p:sp>
        <p:nvSpPr>
          <p:cNvPr id="17" name="TextBox 16"/>
          <p:cNvSpPr txBox="1"/>
          <p:nvPr/>
        </p:nvSpPr>
        <p:spPr>
          <a:xfrm>
            <a:off x="5242438" y="5376672"/>
            <a:ext cx="1706819" cy="365760"/>
          </a:xfrm>
          <a:prstGeom prst="rect">
            <a:avLst/>
          </a:prstGeom>
          <a:noFill/>
        </p:spPr>
        <p:txBody>
          <a:bodyPr wrap="square" anchor="t" lIns="0" rIns="0" tIns="0" bIns="0">
            <a:spAutoFit/>
          </a:bodyPr>
          <a:lstStyle/>
          <a:p>
            <a:pPr algn="l">
              <a:lnSpc>
                <a:spcPct val="95000"/>
              </a:lnSpc>
              <a:spcBef>
                <a:spcPts val="0"/>
              </a:spcBef>
              <a:spcAft>
                <a:spcPts val="400"/>
              </a:spcAft>
            </a:pPr>
            <a:r>
              <a:rPr sz="1050" b="1">
                <a:solidFill>
                  <a:srgbClr val="C04343"/>
                </a:solidFill>
                <a:latin typeface="Calibri"/>
              </a:rPr>
              <a:t>-10.9% real</a:t>
            </a:r>
          </a:p>
        </p:txBody>
      </p:sp>
      <p:sp>
        <p:nvSpPr>
          <p:cNvPr id="18" name="Rounded Rectangle 17"/>
          <p:cNvSpPr/>
          <p:nvPr/>
        </p:nvSpPr>
        <p:spPr>
          <a:xfrm>
            <a:off x="7342449" y="4160520"/>
            <a:ext cx="2036003" cy="1737360"/>
          </a:xfrm>
          <a:prstGeom prst="roundRect">
            <a:avLst/>
          </a:prstGeom>
          <a:solidFill>
            <a:srgbClr val="F5F7F9"/>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07041" y="4306824"/>
            <a:ext cx="1706819" cy="457200"/>
          </a:xfrm>
          <a:prstGeom prst="rect">
            <a:avLst/>
          </a:prstGeom>
          <a:noFill/>
        </p:spPr>
        <p:txBody>
          <a:bodyPr wrap="square" anchor="t" lIns="0" rIns="0" tIns="0" bIns="0">
            <a:spAutoFit/>
          </a:bodyPr>
          <a:lstStyle/>
          <a:p>
            <a:pPr algn="l">
              <a:lnSpc>
                <a:spcPct val="95000"/>
              </a:lnSpc>
              <a:spcBef>
                <a:spcPts val="0"/>
              </a:spcBef>
              <a:spcAft>
                <a:spcPts val="400"/>
              </a:spcAft>
            </a:pPr>
            <a:r>
              <a:rPr sz="950" b="1">
                <a:solidFill>
                  <a:srgbClr val="5B6570"/>
                </a:solidFill>
                <a:latin typeface="Calibri"/>
              </a:rPr>
              <a:t>MARGEN BRUTO (REAL)</a:t>
            </a:r>
          </a:p>
        </p:txBody>
      </p:sp>
      <p:sp>
        <p:nvSpPr>
          <p:cNvPr id="20" name="TextBox 19"/>
          <p:cNvSpPr txBox="1"/>
          <p:nvPr/>
        </p:nvSpPr>
        <p:spPr>
          <a:xfrm>
            <a:off x="7507041" y="4818888"/>
            <a:ext cx="1706819" cy="457200"/>
          </a:xfrm>
          <a:prstGeom prst="rect">
            <a:avLst/>
          </a:prstGeom>
          <a:noFill/>
        </p:spPr>
        <p:txBody>
          <a:bodyPr wrap="square" anchor="t" lIns="0" rIns="0" tIns="0" bIns="0">
            <a:spAutoFit/>
          </a:bodyPr>
          <a:lstStyle/>
          <a:p>
            <a:pPr algn="l">
              <a:lnSpc>
                <a:spcPct val="100000"/>
              </a:lnSpc>
              <a:spcBef>
                <a:spcPts val="0"/>
              </a:spcBef>
              <a:spcAft>
                <a:spcPts val="400"/>
              </a:spcAft>
            </a:pPr>
            <a:r>
              <a:rPr sz="2100" b="1">
                <a:solidFill>
                  <a:srgbClr val="1A1F27"/>
                </a:solidFill>
                <a:latin typeface="Calibri"/>
              </a:rPr>
              <a:t>$1.896 M</a:t>
            </a:r>
          </a:p>
        </p:txBody>
      </p:sp>
      <p:sp>
        <p:nvSpPr>
          <p:cNvPr id="21" name="TextBox 20"/>
          <p:cNvSpPr txBox="1"/>
          <p:nvPr/>
        </p:nvSpPr>
        <p:spPr>
          <a:xfrm>
            <a:off x="7507041" y="5376672"/>
            <a:ext cx="1706819" cy="365760"/>
          </a:xfrm>
          <a:prstGeom prst="rect">
            <a:avLst/>
          </a:prstGeom>
          <a:noFill/>
        </p:spPr>
        <p:txBody>
          <a:bodyPr wrap="square" anchor="t" lIns="0" rIns="0" tIns="0" bIns="0">
            <a:spAutoFit/>
          </a:bodyPr>
          <a:lstStyle/>
          <a:p>
            <a:pPr algn="l">
              <a:lnSpc>
                <a:spcPct val="95000"/>
              </a:lnSpc>
              <a:spcBef>
                <a:spcPts val="0"/>
              </a:spcBef>
              <a:spcAft>
                <a:spcPts val="400"/>
              </a:spcAft>
            </a:pPr>
            <a:r>
              <a:rPr sz="1050" b="1">
                <a:solidFill>
                  <a:srgbClr val="C04343"/>
                </a:solidFill>
                <a:latin typeface="Calibri"/>
              </a:rPr>
              <a:t>-8.7% real</a:t>
            </a:r>
          </a:p>
        </p:txBody>
      </p:sp>
      <p:sp>
        <p:nvSpPr>
          <p:cNvPr id="22" name="Rounded Rectangle 21"/>
          <p:cNvSpPr/>
          <p:nvPr/>
        </p:nvSpPr>
        <p:spPr>
          <a:xfrm>
            <a:off x="9607052" y="4160520"/>
            <a:ext cx="2036003" cy="1737360"/>
          </a:xfrm>
          <a:prstGeom prst="roundRect">
            <a:avLst/>
          </a:prstGeom>
          <a:solidFill>
            <a:srgbClr val="F5F7F9"/>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1644" y="4306824"/>
            <a:ext cx="1706819" cy="457200"/>
          </a:xfrm>
          <a:prstGeom prst="rect">
            <a:avLst/>
          </a:prstGeom>
          <a:noFill/>
        </p:spPr>
        <p:txBody>
          <a:bodyPr wrap="square" anchor="t" lIns="0" rIns="0" tIns="0" bIns="0">
            <a:spAutoFit/>
          </a:bodyPr>
          <a:lstStyle/>
          <a:p>
            <a:pPr algn="l">
              <a:lnSpc>
                <a:spcPct val="95000"/>
              </a:lnSpc>
              <a:spcBef>
                <a:spcPts val="0"/>
              </a:spcBef>
              <a:spcAft>
                <a:spcPts val="400"/>
              </a:spcAft>
            </a:pPr>
            <a:r>
              <a:rPr sz="950" b="1">
                <a:solidFill>
                  <a:srgbClr val="5B6570"/>
                </a:solidFill>
                <a:latin typeface="Calibri"/>
              </a:rPr>
              <a:t>MESES DE STOCK</a:t>
            </a:r>
          </a:p>
        </p:txBody>
      </p:sp>
      <p:sp>
        <p:nvSpPr>
          <p:cNvPr id="24" name="TextBox 23"/>
          <p:cNvSpPr txBox="1"/>
          <p:nvPr/>
        </p:nvSpPr>
        <p:spPr>
          <a:xfrm>
            <a:off x="9771644" y="4818888"/>
            <a:ext cx="1706819" cy="457200"/>
          </a:xfrm>
          <a:prstGeom prst="rect">
            <a:avLst/>
          </a:prstGeom>
          <a:noFill/>
        </p:spPr>
        <p:txBody>
          <a:bodyPr wrap="square" anchor="t" lIns="0" rIns="0" tIns="0" bIns="0">
            <a:spAutoFit/>
          </a:bodyPr>
          <a:lstStyle/>
          <a:p>
            <a:pPr algn="l">
              <a:lnSpc>
                <a:spcPct val="100000"/>
              </a:lnSpc>
              <a:spcBef>
                <a:spcPts val="0"/>
              </a:spcBef>
              <a:spcAft>
                <a:spcPts val="400"/>
              </a:spcAft>
            </a:pPr>
            <a:r>
              <a:rPr sz="2100" b="1">
                <a:solidFill>
                  <a:srgbClr val="1A1F27"/>
                </a:solidFill>
                <a:latin typeface="Calibri"/>
              </a:rPr>
              <a:t>3.02</a:t>
            </a:r>
          </a:p>
        </p:txBody>
      </p:sp>
      <p:sp>
        <p:nvSpPr>
          <p:cNvPr id="25" name="TextBox 24"/>
          <p:cNvSpPr txBox="1"/>
          <p:nvPr/>
        </p:nvSpPr>
        <p:spPr>
          <a:xfrm>
            <a:off x="9771644" y="5376672"/>
            <a:ext cx="1706819" cy="365760"/>
          </a:xfrm>
          <a:prstGeom prst="rect">
            <a:avLst/>
          </a:prstGeom>
          <a:noFill/>
        </p:spPr>
        <p:txBody>
          <a:bodyPr wrap="square" anchor="t" lIns="0" rIns="0" tIns="0" bIns="0">
            <a:spAutoFit/>
          </a:bodyPr>
          <a:lstStyle/>
          <a:p>
            <a:pPr algn="l">
              <a:lnSpc>
                <a:spcPct val="95000"/>
              </a:lnSpc>
              <a:spcBef>
                <a:spcPts val="0"/>
              </a:spcBef>
              <a:spcAft>
                <a:spcPts val="400"/>
              </a:spcAft>
            </a:pPr>
            <a:r>
              <a:rPr sz="1050" b="1">
                <a:solidFill>
                  <a:srgbClr val="B5791A"/>
                </a:solidFill>
                <a:latin typeface="Calibri"/>
              </a:rPr>
              <a:t>desde 2.15 (oct '25)</a:t>
            </a:r>
          </a:p>
        </p:txBody>
      </p:sp>
      <p:sp>
        <p:nvSpPr>
          <p:cNvPr id="26" name="TextBox 25"/>
          <p:cNvSpPr txBox="1"/>
          <p:nvPr/>
        </p:nvSpPr>
        <p:spPr>
          <a:xfrm>
            <a:off x="548640" y="6355080"/>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B6570"/>
                </a:solidFill>
                <a:latin typeface="Calibri"/>
              </a:rPr>
              <a:t>Autocity · Posventa (repuestos, taller, siniestros, accesorios) · $ millones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F6690"/>
                </a:solidFill>
                <a:latin typeface="Calibri"/>
              </a:rPr>
              <a:t>01 · EVOLUCIÓN DE LA OBSOLESCENCIA</a:t>
            </a:r>
          </a:p>
        </p:txBody>
      </p:sp>
      <p:sp>
        <p:nvSpPr>
          <p:cNvPr id="3" name="TextBox 2"/>
          <p:cNvSpPr txBox="1"/>
          <p:nvPr/>
        </p:nvSpPr>
        <p:spPr>
          <a:xfrm>
            <a:off x="548640" y="658368"/>
            <a:ext cx="11064240" cy="73152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F27"/>
                </a:solidFill>
                <a:latin typeface="Calibri"/>
              </a:rPr>
              <a:t>Obsolescencia del stock de repuestos · ene 2026 → objetivo</a:t>
            </a:r>
          </a:p>
        </p:txBody>
      </p:sp>
      <p:graphicFrame>
        <p:nvGraphicFramePr>
          <p:cNvPr id="4" name="Chart 3"/>
          <p:cNvGraphicFramePr>
            <a:graphicFrameLocks noGrp="1"/>
          </p:cNvGraphicFramePr>
          <p:nvPr/>
        </p:nvGraphicFramePr>
        <p:xfrm>
          <a:off x="548640" y="1371600"/>
          <a:ext cx="11064240" cy="3520440"/>
        </p:xfrm>
        <a:graphic>
          <a:graphicData uri="http://schemas.openxmlformats.org/drawingml/2006/chart">
            <c:chart xmlns:c="http://schemas.openxmlformats.org/drawingml/2006/chart" r:id="rId2"/>
          </a:graphicData>
        </a:graphic>
      </p:graphicFrame>
      <p:sp>
        <p:nvSpPr>
          <p:cNvPr id="5" name="TextBox 4"/>
          <p:cNvSpPr txBox="1"/>
          <p:nvPr/>
        </p:nvSpPr>
        <p:spPr>
          <a:xfrm>
            <a:off x="640080" y="5029200"/>
            <a:ext cx="10881360" cy="1645920"/>
          </a:xfrm>
          <a:prstGeom prst="rect">
            <a:avLst/>
          </a:prstGeom>
          <a:noFill/>
        </p:spPr>
        <p:txBody>
          <a:bodyPr wrap="square" lIns="0" tIns="0" rIns="0">
            <a:spAutoFit/>
          </a:bodyPr>
          <a:lstStyle/>
          <a:p>
            <a:pPr>
              <a:lnSpc>
                <a:spcPct val="105000"/>
              </a:lnSpc>
              <a:spcAft>
                <a:spcPts val="600"/>
              </a:spcAft>
            </a:pPr>
            <a:r>
              <a:rPr sz="1150">
                <a:solidFill>
                  <a:srgbClr val="2F9E5C"/>
                </a:solidFill>
                <a:latin typeface="Calibri"/>
              </a:rPr>
              <a:t>■  </a:t>
            </a:r>
            <a:r>
              <a:rPr sz="1150">
                <a:solidFill>
                  <a:srgbClr val="1A1F27"/>
                </a:solidFill>
                <a:latin typeface="Calibri"/>
              </a:rPr>
              <a:t>El stock problemático (muerto + dormido + semestral) mejoró de 31% (ene) a 24% (ago '26): ocho meses de saneamiento, cayendo de $2.868 M a su mínimo de $2.790 M.</a:t>
            </a:r>
          </a:p>
          <a:p>
            <a:pPr>
              <a:lnSpc>
                <a:spcPct val="105000"/>
              </a:lnSpc>
              <a:spcAft>
                <a:spcPts val="600"/>
              </a:spcAft>
            </a:pPr>
            <a:r>
              <a:rPr sz="1150">
                <a:solidFill>
                  <a:srgbClr val="C04343"/>
                </a:solidFill>
                <a:latin typeface="Calibri"/>
              </a:rPr>
              <a:t>■  </a:t>
            </a:r>
            <a:r>
              <a:rPr sz="1150">
                <a:solidFill>
                  <a:srgbClr val="1A1F27"/>
                </a:solidFill>
                <a:latin typeface="Calibri"/>
              </a:rPr>
              <a:t>En sep‑oct repuntó a 29%–34% del stock, revirtiendo parte del avance del año.</a:t>
            </a:r>
          </a:p>
          <a:p>
            <a:pPr>
              <a:lnSpc>
                <a:spcPct val="105000"/>
              </a:lnSpc>
              <a:spcAft>
                <a:spcPts val="600"/>
              </a:spcAft>
            </a:pPr>
            <a:r>
              <a:rPr sz="1150">
                <a:solidFill>
                  <a:srgbClr val="C04343"/>
                </a:solidFill>
                <a:latin typeface="Calibri"/>
              </a:rPr>
              <a:t>■  </a:t>
            </a:r>
            <a:r>
              <a:rPr sz="1150">
                <a:solidFill>
                  <a:srgbClr val="1A1F27"/>
                </a:solidFill>
                <a:latin typeface="Calibri"/>
              </a:rPr>
              <a:t>El deterioro reciente viene del sobrestock semestral (de $1.848 M en ago a $2.760 M) y del stock dormido (de $61 M a $442 M).</a:t>
            </a:r>
          </a:p>
          <a:p>
            <a:pPr>
              <a:lnSpc>
                <a:spcPct val="105000"/>
              </a:lnSpc>
              <a:spcAft>
                <a:spcPts val="600"/>
              </a:spcAft>
            </a:pPr>
            <a:r>
              <a:rPr sz="1150">
                <a:solidFill>
                  <a:srgbClr val="B5791A"/>
                </a:solidFill>
                <a:latin typeface="Calibri"/>
              </a:rPr>
              <a:t>■  </a:t>
            </a:r>
            <a:r>
              <a:rPr sz="1150">
                <a:solidFill>
                  <a:srgbClr val="1A1F27"/>
                </a:solidFill>
                <a:latin typeface="Calibri"/>
              </a:rPr>
              <a:t>Hoy ~$4.114 M (34%) del stock de repuestos es problemático. Oct‑26 es parcial (al 6/10) e incorpora la marca LEAP.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F6690"/>
                </a:solidFill>
                <a:latin typeface="Calibri"/>
              </a:rPr>
              <a:t>02 · RENTABILIDAD POR ÁREA DE POSVENTA</a:t>
            </a:r>
          </a:p>
        </p:txBody>
      </p:sp>
      <p:sp>
        <p:nvSpPr>
          <p:cNvPr id="3" name="TextBox 2"/>
          <p:cNvSpPr txBox="1"/>
          <p:nvPr/>
        </p:nvSpPr>
        <p:spPr>
          <a:xfrm>
            <a:off x="548640" y="658368"/>
            <a:ext cx="11064240" cy="73152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F27"/>
                </a:solidFill>
                <a:latin typeface="Calibri"/>
              </a:rPr>
              <a:t>Resultado por área vs. capital de trabajo (mes a mes)</a:t>
            </a:r>
          </a:p>
        </p:txBody>
      </p:sp>
      <p:graphicFrame>
        <p:nvGraphicFramePr>
          <p:cNvPr id="4" name="Chart 3"/>
          <p:cNvGraphicFramePr>
            <a:graphicFrameLocks noGrp="1"/>
          </p:cNvGraphicFramePr>
          <p:nvPr/>
        </p:nvGraphicFramePr>
        <p:xfrm>
          <a:off x="548640" y="1371600"/>
          <a:ext cx="11064240" cy="3383280"/>
        </p:xfrm>
        <a:graphic>
          <a:graphicData uri="http://schemas.openxmlformats.org/drawingml/2006/chart">
            <c:chart xmlns:c="http://schemas.openxmlformats.org/drawingml/2006/chart" r:id="rId2"/>
          </a:graphicData>
        </a:graphic>
      </p:graphicFrame>
      <p:sp>
        <p:nvSpPr>
          <p:cNvPr id="5" name="TextBox 4"/>
          <p:cNvSpPr txBox="1"/>
          <p:nvPr/>
        </p:nvSpPr>
        <p:spPr>
          <a:xfrm>
            <a:off x="640080" y="4892040"/>
            <a:ext cx="10881360" cy="1783080"/>
          </a:xfrm>
          <a:prstGeom prst="rect">
            <a:avLst/>
          </a:prstGeom>
          <a:noFill/>
        </p:spPr>
        <p:txBody>
          <a:bodyPr wrap="square" lIns="0" tIns="0" rIns="0">
            <a:spAutoFit/>
          </a:bodyPr>
          <a:lstStyle/>
          <a:p>
            <a:pPr>
              <a:lnSpc>
                <a:spcPct val="105000"/>
              </a:lnSpc>
              <a:spcAft>
                <a:spcPts val="600"/>
              </a:spcAft>
            </a:pPr>
            <a:r>
              <a:rPr sz="1200">
                <a:solidFill>
                  <a:srgbClr val="C04343"/>
                </a:solidFill>
                <a:latin typeface="Calibri"/>
              </a:rPr>
              <a:t>■  </a:t>
            </a:r>
            <a:r>
              <a:rPr sz="1200">
                <a:solidFill>
                  <a:srgbClr val="1A1F27"/>
                </a:solidFill>
                <a:latin typeface="Calibri"/>
              </a:rPr>
              <a:t>El capital de trabajo subió de $9.769 M (ene) a $13.962 M (ago) mientras el resultado de posventa se mantuvo plano: la rentabilidad total sobre el capital bajó de 6.1% (ene) a 3.5% (ago), con un pico de 9.3% en mar.</a:t>
            </a:r>
          </a:p>
          <a:p>
            <a:pPr>
              <a:lnSpc>
                <a:spcPct val="105000"/>
              </a:lnSpc>
              <a:spcAft>
                <a:spcPts val="600"/>
              </a:spcAft>
            </a:pPr>
            <a:r>
              <a:rPr sz="1200">
                <a:solidFill>
                  <a:srgbClr val="C04343"/>
                </a:solidFill>
                <a:latin typeface="Calibri"/>
              </a:rPr>
              <a:t>■  </a:t>
            </a:r>
            <a:r>
              <a:rPr sz="1200">
                <a:solidFill>
                  <a:srgbClr val="1A1F27"/>
                </a:solidFill>
                <a:latin typeface="Calibri"/>
              </a:rPr>
              <a:t>Los Resultados de stock son muy volátiles: aportaron +3,0% sobre el capital en mar pero restaron −1,6% en ago (−$218 M), golpeando el retorno del 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F6690"/>
                </a:solidFill>
                <a:latin typeface="Calibri"/>
              </a:rPr>
              <a:t>02 · RENTABILIDAD POR ÁREA DE POSVENTA</a:t>
            </a:r>
          </a:p>
        </p:txBody>
      </p:sp>
      <p:sp>
        <p:nvSpPr>
          <p:cNvPr id="3" name="TextBox 2"/>
          <p:cNvSpPr txBox="1"/>
          <p:nvPr/>
        </p:nvSpPr>
        <p:spPr>
          <a:xfrm>
            <a:off x="548640" y="658368"/>
            <a:ext cx="11064240" cy="73152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F27"/>
                </a:solidFill>
                <a:latin typeface="Calibri"/>
              </a:rPr>
              <a:t>Aporte sobre el capital de trabajo (la suma = rentabilidad total)</a:t>
            </a:r>
          </a:p>
        </p:txBody>
      </p:sp>
      <p:graphicFrame>
        <p:nvGraphicFramePr>
          <p:cNvPr id="4" name="Chart 3"/>
          <p:cNvGraphicFramePr>
            <a:graphicFrameLocks noGrp="1"/>
          </p:cNvGraphicFramePr>
          <p:nvPr/>
        </p:nvGraphicFramePr>
        <p:xfrm>
          <a:off x="548640" y="1371600"/>
          <a:ext cx="11064240" cy="3383280"/>
        </p:xfrm>
        <a:graphic>
          <a:graphicData uri="http://schemas.openxmlformats.org/drawingml/2006/chart">
            <c:chart xmlns:c="http://schemas.openxmlformats.org/drawingml/2006/chart" r:id="rId2"/>
          </a:graphicData>
        </a:graphic>
      </p:graphicFrame>
      <p:sp>
        <p:nvSpPr>
          <p:cNvPr id="5" name="TextBox 4"/>
          <p:cNvSpPr txBox="1"/>
          <p:nvPr/>
        </p:nvSpPr>
        <p:spPr>
          <a:xfrm>
            <a:off x="640080" y="4892040"/>
            <a:ext cx="10881360" cy="1783080"/>
          </a:xfrm>
          <a:prstGeom prst="rect">
            <a:avLst/>
          </a:prstGeom>
          <a:noFill/>
        </p:spPr>
        <p:txBody>
          <a:bodyPr wrap="square" lIns="0" tIns="0" rIns="0">
            <a:spAutoFit/>
          </a:bodyPr>
          <a:lstStyle/>
          <a:p>
            <a:pPr>
              <a:lnSpc>
                <a:spcPct val="105000"/>
              </a:lnSpc>
              <a:spcAft>
                <a:spcPts val="600"/>
              </a:spcAft>
            </a:pPr>
            <a:r>
              <a:rPr sz="1200">
                <a:solidFill>
                  <a:srgbClr val="B5791A"/>
                </a:solidFill>
                <a:latin typeface="Calibri"/>
              </a:rPr>
              <a:t>■  </a:t>
            </a:r>
            <a:r>
              <a:rPr sz="1200">
                <a:solidFill>
                  <a:srgbClr val="1A1F27"/>
                </a:solidFill>
                <a:latin typeface="Calibri"/>
              </a:rPr>
              <a:t>Medido sobre el capital de trabajo, Bienes y Servicios aportan ~2–3% cada uno por mes; Servicios pasó a aportar más que Bienes en jul–ago.</a:t>
            </a:r>
          </a:p>
          <a:p>
            <a:pPr>
              <a:lnSpc>
                <a:spcPct val="105000"/>
              </a:lnSpc>
              <a:spcAft>
                <a:spcPts val="600"/>
              </a:spcAft>
            </a:pPr>
            <a:r>
              <a:rPr sz="1200">
                <a:solidFill>
                  <a:srgbClr val="B5791A"/>
                </a:solidFill>
                <a:latin typeface="Calibri"/>
              </a:rPr>
              <a:t>■  </a:t>
            </a:r>
            <a:r>
              <a:rPr sz="1200">
                <a:solidFill>
                  <a:srgbClr val="1A1F27"/>
                </a:solidFill>
                <a:latin typeface="Calibri"/>
              </a:rPr>
              <a:t>El capital (inventario) está concentrado en Bienes; su aporte sobre el capital ronda ~2–3% mensual mientras el capital sigue creciendo: el retorno sobre el stock inmovilizado es el foco a vigilar.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C0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F6690"/>
                </a:solidFill>
                <a:latin typeface="Calibri"/>
              </a:rPr>
              <a:t>03 · CONCLUSIÓN Y DIAGNÓSTICO FINANCIERO</a:t>
            </a:r>
          </a:p>
        </p:txBody>
      </p:sp>
      <p:sp>
        <p:nvSpPr>
          <p:cNvPr id="4" name="TextBox 3"/>
          <p:cNvSpPr txBox="1"/>
          <p:nvPr/>
        </p:nvSpPr>
        <p:spPr>
          <a:xfrm>
            <a:off x="548640" y="658368"/>
            <a:ext cx="11064240" cy="73152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F27"/>
                </a:solidFill>
                <a:latin typeface="Calibri"/>
              </a:rPr>
              <a:t>Diagnóstico: expansión ineficiente del capital de trabajo</a:t>
            </a:r>
          </a:p>
        </p:txBody>
      </p:sp>
      <p:sp>
        <p:nvSpPr>
          <p:cNvPr id="5" name="TextBox 4"/>
          <p:cNvSpPr txBox="1"/>
          <p:nvPr/>
        </p:nvSpPr>
        <p:spPr>
          <a:xfrm>
            <a:off x="548640" y="1554480"/>
            <a:ext cx="11064240" cy="2103120"/>
          </a:xfrm>
          <a:prstGeom prst="rect">
            <a:avLst/>
          </a:prstGeom>
          <a:noFill/>
        </p:spPr>
        <p:txBody>
          <a:bodyPr wrap="square" anchor="t" lIns="0" rIns="0" tIns="0" bIns="0">
            <a:spAutoFit/>
          </a:bodyPr>
          <a:lstStyle/>
          <a:p>
            <a:pPr algn="l">
              <a:lnSpc>
                <a:spcPct val="108000"/>
              </a:lnSpc>
              <a:spcBef>
                <a:spcPts val="0"/>
              </a:spcBef>
              <a:spcAft>
                <a:spcPts val="600"/>
              </a:spcAft>
            </a:pPr>
            <a:r>
              <a:rPr sz="1250" b="0">
                <a:solidFill>
                  <a:srgbClr val="1A1F27"/>
                </a:solidFill>
                <a:latin typeface="Calibri"/>
              </a:rPr>
              <a:t>Entre octubre 2025 y agosto 2026 el capital de trabajo creció +48.8% nominal, pero +26.4% en términos reales (descontando la inflación de precios de lista): cerca de la mitad del salto nominal es sólo recomposición por precios. Aun así, el capital real se expandió de forma significativa, impulsado casi por completo por inventario (98% del total).</a:t>
            </a:r>
          </a:p>
          <a:p>
            <a:pPr algn="l">
              <a:lnSpc>
                <a:spcPct val="108000"/>
              </a:lnSpc>
              <a:spcBef>
                <a:spcPts val="0"/>
              </a:spcBef>
              <a:spcAft>
                <a:spcPts val="600"/>
              </a:spcAft>
            </a:pPr>
            <a:r>
              <a:rPr sz="600" b="0">
                <a:solidFill>
                  <a:srgbClr val="1A1F27"/>
                </a:solidFill>
                <a:latin typeface="Calibri"/>
              </a:rPr>
              <a:t/>
            </a:r>
          </a:p>
          <a:p>
            <a:pPr algn="l">
              <a:lnSpc>
                <a:spcPct val="108000"/>
              </a:lnSpc>
              <a:spcBef>
                <a:spcPts val="0"/>
              </a:spcBef>
              <a:spcAft>
                <a:spcPts val="600"/>
              </a:spcAft>
            </a:pPr>
            <a:r>
              <a:rPr sz="1250" b="0">
                <a:solidFill>
                  <a:srgbClr val="1A1F27"/>
                </a:solidFill>
                <a:latin typeface="Calibri"/>
              </a:rPr>
              <a:t>En el mismo período la facturación real cayó -10.9% y el margen bruto real -8.7%. Es decir: se inmovilizó más capital real mientras el negocio real se contrajo. Los meses de stock subieron de 2.15 a 3.02 (métrica neutra a la inflación), la financiación de proveedores no acompañó (deudas comerciales +8.9% nominal) y la previsión por obsolescencia acumuló cargo neto. La conclusión es que el incremento del capital de trabajo NO estuvo justificado por un aumento de ventas, ni por mejora de rentabilidad. Salvo que responda a una decisión estratégica explícita (cobertura de stock, anticipo de importaciones), el patrón es de inmovilización creciente de capital con retorno decreciente — negativo para la eficiencia del negocio.</a:t>
            </a:r>
          </a:p>
        </p:txBody>
      </p:sp>
      <p:sp>
        <p:nvSpPr>
          <p:cNvPr id="6" name="TextBox 5"/>
          <p:cNvSpPr txBox="1"/>
          <p:nvPr/>
        </p:nvSpPr>
        <p:spPr>
          <a:xfrm>
            <a:off x="548640" y="4572000"/>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2F6690"/>
                </a:solidFill>
                <a:latin typeface="Calibri"/>
              </a:rPr>
              <a:t>Recomendaciones</a:t>
            </a:r>
          </a:p>
        </p:txBody>
      </p:sp>
      <p:sp>
        <p:nvSpPr>
          <p:cNvPr id="7" name="TextBox 6"/>
          <p:cNvSpPr txBox="1"/>
          <p:nvPr/>
        </p:nvSpPr>
        <p:spPr>
          <a:xfrm>
            <a:off x="640080" y="4937760"/>
            <a:ext cx="10972800" cy="1737359"/>
          </a:xfrm>
          <a:prstGeom prst="rect">
            <a:avLst/>
          </a:prstGeom>
          <a:noFill/>
        </p:spPr>
        <p:txBody>
          <a:bodyPr wrap="square" lIns="0" tIns="0" rIns="0">
            <a:spAutoFit/>
          </a:bodyPr>
          <a:lstStyle/>
          <a:p>
            <a:pPr>
              <a:lnSpc>
                <a:spcPct val="105000"/>
              </a:lnSpc>
              <a:spcAft>
                <a:spcPts val="600"/>
              </a:spcAft>
            </a:pPr>
            <a:r>
              <a:rPr sz="1150">
                <a:solidFill>
                  <a:srgbClr val="2F6690"/>
                </a:solidFill>
                <a:latin typeface="Calibri"/>
              </a:rPr>
              <a:t>■  </a:t>
            </a:r>
            <a:r>
              <a:rPr sz="1150">
                <a:solidFill>
                  <a:srgbClr val="1A1F27"/>
                </a:solidFill>
                <a:latin typeface="Calibri"/>
              </a:rPr>
              <a:t>Rotación de inventario. Objetivo de meses de stock por marca/línea y plan de desarme del excedente; foco en SKUs de baja rotación que alimentan la obsolescencia.</a:t>
            </a:r>
          </a:p>
          <a:p>
            <a:pPr>
              <a:lnSpc>
                <a:spcPct val="105000"/>
              </a:lnSpc>
              <a:spcAft>
                <a:spcPts val="600"/>
              </a:spcAft>
            </a:pPr>
            <a:r>
              <a:rPr sz="1150">
                <a:solidFill>
                  <a:srgbClr val="2F6690"/>
                </a:solidFill>
                <a:latin typeface="Calibri"/>
              </a:rPr>
              <a:t>■  </a:t>
            </a:r>
            <a:r>
              <a:rPr sz="1150">
                <a:solidFill>
                  <a:srgbClr val="1A1F27"/>
                </a:solidFill>
                <a:latin typeface="Calibri"/>
              </a:rPr>
              <a:t>Financiación de proveedores. Renegociar plazos de pago para que la compra de stock no se financie con capital propio; alinear días de pago con días de inventario.</a:t>
            </a:r>
          </a:p>
          <a:p>
            <a:pPr>
              <a:lnSpc>
                <a:spcPct val="105000"/>
              </a:lnSpc>
              <a:spcAft>
                <a:spcPts val="600"/>
              </a:spcAft>
            </a:pPr>
            <a:r>
              <a:rPr sz="1150">
                <a:solidFill>
                  <a:srgbClr val="2F6690"/>
                </a:solidFill>
                <a:latin typeface="Calibri"/>
              </a:rPr>
              <a:t>■  </a:t>
            </a:r>
            <a:r>
              <a:rPr sz="1150">
                <a:solidFill>
                  <a:srgbClr val="1A1F27"/>
                </a:solidFill>
                <a:latin typeface="Calibri"/>
              </a:rPr>
              <a:t>Mirada real, no nominal. Monitorear el capital de trabajo deflactado y los meses de stock; el crecimiento nominal en contexto inflacionario esconde el deterioro real.</a:t>
            </a:r>
          </a:p>
          <a:p>
            <a:pPr>
              <a:lnSpc>
                <a:spcPct val="105000"/>
              </a:lnSpc>
              <a:spcAft>
                <a:spcPts val="600"/>
              </a:spcAft>
            </a:pPr>
            <a:r>
              <a:rPr sz="1150">
                <a:solidFill>
                  <a:srgbClr val="2F6690"/>
                </a:solidFill>
                <a:latin typeface="Calibri"/>
              </a:rPr>
              <a:t>■  </a:t>
            </a:r>
            <a:r>
              <a:rPr sz="1150">
                <a:solidFill>
                  <a:srgbClr val="1A1F27"/>
                </a:solidFill>
                <a:latin typeface="Calibri"/>
              </a:rPr>
              <a:t>Lectura estratégica. Si la acumulación es deliberada, documentar retorno esperado y fecha de normalización; si no, es el principal foco de liberación de caja.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